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D2B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C49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" y="960120"/>
            <a:ext cx="13716" cy="123444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95528" y="1417320"/>
            <a:ext cx="201168" cy="12801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914400"/>
            <a:ext cx="54864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400">
                <a:solidFill>
                  <a:srgbClr val="F5F0E8"/>
                </a:solidFill>
                <a:latin typeface="Helvetica Neue"/>
              </a:rPr>
              <a:t>THE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0"/>
              </a:spcAft>
            </a:pPr>
            <a:r>
              <a:rPr sz="2600" b="1" i="0" spc="120">
                <a:solidFill>
                  <a:srgbClr val="F5F0E8"/>
                </a:solidFill>
                <a:latin typeface="Georgia"/>
              </a:rPr>
              <a:t>BUILDERS'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200" b="1" i="0" spc="400">
                <a:solidFill>
                  <a:srgbClr val="F5F0E8"/>
                </a:solidFill>
                <a:latin typeface="Helvetica Neue"/>
              </a:rPr>
              <a:t>OPS 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78892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spc="240">
                <a:solidFill>
                  <a:srgbClr val="C4956A"/>
                </a:solidFill>
                <a:latin typeface="Helvetica Neue"/>
              </a:rPr>
              <a:t>A LIVE BUILD SESSION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154680"/>
            <a:ext cx="1051560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7600" b="1" i="0">
                <a:solidFill>
                  <a:srgbClr val="F5F0E8"/>
                </a:solidFill>
                <a:latin typeface="Georgia"/>
              </a:rPr>
              <a:t>Beyond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7600" b="1" i="0">
                <a:solidFill>
                  <a:srgbClr val="F5F0E8"/>
                </a:solidFill>
                <a:latin typeface="Georgia"/>
              </a:rPr>
              <a:t>Prompting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349240"/>
            <a:ext cx="87782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E8DCC8"/>
                </a:solidFill>
                <a:latin typeface="Helvetica Neue"/>
              </a:rPr>
              <a:t>Building with AI for small business. Not the prompts. The </a:t>
            </a:r>
            <a:r>
              <a:rPr sz="2200" b="0" i="1">
                <a:solidFill>
                  <a:srgbClr val="C4956A"/>
                </a:solidFill>
                <a:latin typeface="Georgia"/>
              </a:rPr>
              <a:t>machine</a:t>
            </a:r>
            <a:r>
              <a:rPr sz="2000" b="0" i="0">
                <a:solidFill>
                  <a:srgbClr val="E8DCC8"/>
                </a:solidFill>
                <a:latin typeface="Helvetica Neue"/>
              </a:rPr>
              <a:t> that runs the back office while you sleep.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291072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80">
                <a:solidFill>
                  <a:srgbClr val="C4956A"/>
                </a:solidFill>
                <a:latin typeface="Helvetica Neue"/>
              </a:rPr>
              <a:t>CYNTHIA JONES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39535" y="6291072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80">
                <a:solidFill>
                  <a:srgbClr val="C4956A"/>
                </a:solidFill>
                <a:latin typeface="Helvetica Neue"/>
              </a:rPr>
              <a:t>THEBUILDERSOPSSTUDIO.COM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C49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105156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spc="240">
                <a:solidFill>
                  <a:srgbClr val="C4956A"/>
                </a:solidFill>
                <a:latin typeface="Helvetica Neue"/>
              </a:rPr>
              <a:t>START HERE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156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5000" b="1" i="0">
                <a:solidFill>
                  <a:srgbClr val="3D2B1F"/>
                </a:solidFill>
                <a:latin typeface="Georgia"/>
              </a:rPr>
              <a:t>There's a gap between </a:t>
            </a:r>
            <a:r>
              <a:rPr sz="5000" b="1" i="0">
                <a:solidFill>
                  <a:srgbClr val="A0522D"/>
                </a:solidFill>
                <a:latin typeface="Georgia"/>
              </a:rPr>
              <a:t>using</a:t>
            </a:r>
            <a:r>
              <a:rPr sz="5000" b="1" i="0">
                <a:solidFill>
                  <a:srgbClr val="3D2B1F"/>
                </a:solidFill>
                <a:latin typeface="Georgia"/>
              </a:rPr>
              <a:t> AI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5000" b="1" i="0">
                <a:solidFill>
                  <a:srgbClr val="3D2B1F"/>
                </a:solidFill>
                <a:latin typeface="Georgia"/>
              </a:rPr>
              <a:t>and AI </a:t>
            </a:r>
            <a:r>
              <a:rPr sz="5000" b="1" i="0">
                <a:solidFill>
                  <a:srgbClr val="A0522D"/>
                </a:solidFill>
                <a:latin typeface="Georgia"/>
              </a:rPr>
              <a:t>doing the work.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977639"/>
            <a:ext cx="96926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6B4C3B"/>
                </a:solidFill>
                <a:latin typeface="Helvetica Neue"/>
              </a:rPr>
              <a:t>Most people have used AI to write a caption, an email, a post. Far fewer have an AI tool that actually ran a part of their business for them, while they slept.</a:t>
            </a:r>
          </a:p>
          <a:p>
            <a:pPr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</a:pPr>
            <a:r>
              <a:rPr sz="2000" b="1" i="0">
                <a:solidFill>
                  <a:srgbClr val="A0522D"/>
                </a:solidFill>
                <a:latin typeface="Helvetica Neue"/>
              </a:rPr>
              <a:t>That gap is the whole reason for tonight.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291072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80">
                <a:solidFill>
                  <a:srgbClr val="C4956A"/>
                </a:solidFill>
                <a:latin typeface="Helvetica Neue"/>
              </a:rPr>
              <a:t>THE BUILDERS' OPS STUDIO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39535" y="6291072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80">
                <a:solidFill>
                  <a:srgbClr val="C4956A"/>
                </a:solidFill>
                <a:latin typeface="Helvetica Neue"/>
              </a:rPr>
              <a:t>01 · THE GAP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C49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86868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spc="240">
                <a:solidFill>
                  <a:srgbClr val="C4956A"/>
                </a:solidFill>
                <a:latin typeface="Helvetica Neue"/>
              </a:rPr>
              <a:t>WHY 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676656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3D2B1F"/>
                </a:solidFill>
                <a:latin typeface="Georgia"/>
              </a:rPr>
              <a:t>Fifteen years building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3D2B1F"/>
                </a:solidFill>
                <a:latin typeface="Georgia"/>
              </a:rPr>
              <a:t>other people's operations.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834640"/>
            <a:ext cx="64008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6B4C3B"/>
                </a:solidFill>
                <a:latin typeface="Helvetica Neue"/>
              </a:rPr>
              <a:t>Multimillion-dollar budgets. Teams across five continents. Then a course teaching software engineers how AI systems actually work, the real machinery behind the tools. Now that same infrastructure, built for small businesses.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4709160"/>
            <a:ext cx="2084831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E8D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1" y="4837176"/>
            <a:ext cx="1755648" cy="11612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1">
                <a:solidFill>
                  <a:srgbClr val="C4956A"/>
                </a:solidFill>
                <a:latin typeface="Georgia"/>
              </a:rPr>
              <a:t>01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1500" b="1" i="0">
                <a:solidFill>
                  <a:srgbClr val="3D2B1F"/>
                </a:solidFill>
                <a:latin typeface="Helvetica Neue"/>
              </a:rPr>
              <a:t>I build it</a:t>
            </a:r>
          </a:p>
          <a:p>
            <a:pPr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</a:pPr>
            <a:r>
              <a:rPr sz="1150" b="0" i="0">
                <a:solidFill>
                  <a:srgbClr val="6B4C3B"/>
                </a:solidFill>
                <a:latin typeface="Helvetica Neue"/>
              </a:rPr>
              <a:t>Not slideware. Real systems that ship.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18104" y="4709160"/>
            <a:ext cx="2084831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E8D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82696" y="4837176"/>
            <a:ext cx="1755648" cy="11612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1">
                <a:solidFill>
                  <a:srgbClr val="C4956A"/>
                </a:solidFill>
                <a:latin typeface="Georgia"/>
              </a:rPr>
              <a:t>02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1500" b="1" i="0">
                <a:solidFill>
                  <a:srgbClr val="3D2B1F"/>
                </a:solidFill>
                <a:latin typeface="Helvetica Neue"/>
              </a:rPr>
              <a:t>Enterprise ops</a:t>
            </a:r>
          </a:p>
          <a:p>
            <a:pPr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</a:pPr>
            <a:r>
              <a:rPr sz="1150" b="0" i="0">
                <a:solidFill>
                  <a:srgbClr val="6B4C3B"/>
                </a:solidFill>
                <a:latin typeface="Helvetica Neue"/>
              </a:rPr>
              <a:t>For businesses our size.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67528" y="4709160"/>
            <a:ext cx="2084831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E8D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32120" y="4837176"/>
            <a:ext cx="1755648" cy="11612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1">
                <a:solidFill>
                  <a:srgbClr val="C4956A"/>
                </a:solidFill>
                <a:latin typeface="Georgia"/>
              </a:rPr>
              <a:t>03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1500" b="1" i="0">
                <a:solidFill>
                  <a:srgbClr val="3D2B1F"/>
                </a:solidFill>
                <a:latin typeface="Helvetica Neue"/>
              </a:rPr>
              <a:t>I taught the AI</a:t>
            </a:r>
          </a:p>
          <a:p>
            <a:pPr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</a:pPr>
            <a:r>
              <a:rPr sz="1150" b="0" i="0">
                <a:solidFill>
                  <a:srgbClr val="6B4C3B"/>
                </a:solidFill>
                <a:latin typeface="Helvetica Neue"/>
              </a:rPr>
              <a:t>No guessing on what it can do.</a:t>
            </a:r>
          </a:p>
        </p:txBody>
      </p:sp>
      <p:pic>
        <p:nvPicPr>
          <p:cNvPr id="12" name="Picture 11" descr="cynthi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1417320"/>
            <a:ext cx="3200400" cy="3200400"/>
          </a:xfrm>
          <a:prstGeom prst="rect">
            <a:avLst/>
          </a:prstGeom>
          <a:ln w="76200">
            <a:solidFill>
              <a:srgbClr val="F5F0E8"/>
            </a:solidFill>
          </a:ln>
        </p:spPr>
      </p:pic>
      <p:sp>
        <p:nvSpPr>
          <p:cNvPr id="13" name="Rounded Rectangle 12"/>
          <p:cNvSpPr/>
          <p:nvPr/>
        </p:nvSpPr>
        <p:spPr>
          <a:xfrm>
            <a:off x="8732519" y="438912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C49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32519" y="4416552"/>
            <a:ext cx="237744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40">
                <a:solidFill>
                  <a:srgbClr val="FFFFFF"/>
                </a:solidFill>
                <a:latin typeface="Helvetica Neue"/>
              </a:rPr>
              <a:t>CYNTHIA JONES · FOUNDER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291072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80">
                <a:solidFill>
                  <a:srgbClr val="C4956A"/>
                </a:solidFill>
                <a:latin typeface="Helvetica Neue"/>
              </a:rPr>
              <a:t>THE BUILDERS' OPS STUDIO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39535" y="6291072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80">
                <a:solidFill>
                  <a:srgbClr val="C4956A"/>
                </a:solidFill>
                <a:latin typeface="Helvetica Neue"/>
              </a:rPr>
              <a:t>02 · WHY ME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D2B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C49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86868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spc="240">
                <a:solidFill>
                  <a:srgbClr val="C4956A"/>
                </a:solidFill>
                <a:latin typeface="Helvetica Neue"/>
              </a:rPr>
              <a:t>THE REFRAME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0584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300" b="0" i="1">
                <a:solidFill>
                  <a:srgbClr val="F5F0E8"/>
                </a:solidFill>
                <a:latin typeface="Georgia"/>
              </a:rPr>
              <a:t>Most AI talk is about the </a:t>
            </a:r>
            <a:r>
              <a:rPr sz="3300" b="0" i="1">
                <a:solidFill>
                  <a:srgbClr val="C4956A"/>
                </a:solidFill>
                <a:latin typeface="Georgia"/>
              </a:rPr>
              <a:t>front</a:t>
            </a:r>
            <a:r>
              <a:rPr sz="3300" b="0" i="1">
                <a:solidFill>
                  <a:srgbClr val="F5F0E8"/>
                </a:solidFill>
                <a:latin typeface="Georgia"/>
              </a:rPr>
              <a:t> of your business. More followers. More leads. More customers at the door.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46120"/>
            <a:ext cx="100584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300" b="0" i="1">
                <a:solidFill>
                  <a:srgbClr val="F5F0E8"/>
                </a:solidFill>
                <a:latin typeface="Georgia"/>
              </a:rPr>
              <a:t>My work starts the moment they walk </a:t>
            </a:r>
            <a:r>
              <a:rPr sz="3300" b="0" i="1">
                <a:solidFill>
                  <a:srgbClr val="C4956A"/>
                </a:solidFill>
                <a:latin typeface="Georgia"/>
              </a:rPr>
              <a:t>through</a:t>
            </a:r>
            <a:r>
              <a:rPr sz="3300" b="0" i="1">
                <a:solidFill>
                  <a:srgbClr val="F5F0E8"/>
                </a:solidFill>
                <a:latin typeface="Georgia"/>
              </a:rPr>
              <a:t>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617720"/>
            <a:ext cx="98755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1">
                <a:solidFill>
                  <a:srgbClr val="C4956A"/>
                </a:solidFill>
                <a:latin typeface="Georgia"/>
              </a:rPr>
              <a:t>“She fills the top of the funnel. I build the machine that keeps the bottom from leaking.”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291072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80">
                <a:solidFill>
                  <a:srgbClr val="C4956A"/>
                </a:solidFill>
                <a:latin typeface="Helvetica Neue"/>
              </a:rPr>
              <a:t>CYNTHIA JONES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39535" y="6291072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80">
                <a:solidFill>
                  <a:srgbClr val="C4956A"/>
                </a:solidFill>
                <a:latin typeface="Helvetica Neue"/>
              </a:rPr>
              <a:t>03 · FRONT VS. BACK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C49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146304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spc="240">
                <a:solidFill>
                  <a:srgbClr val="C4956A"/>
                </a:solidFill>
                <a:latin typeface="Helvetica Neue"/>
              </a:rPr>
              <a:t>THE STAKES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42416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 i="0">
                <a:solidFill>
                  <a:srgbClr val="3D2B1F"/>
                </a:solidFill>
                <a:latin typeface="Georgia"/>
              </a:rPr>
              <a:t>More customers without a system underneath isn't growth.</a:t>
            </a:r>
          </a:p>
          <a:p>
            <a:pPr algn="l">
              <a:lnSpc>
                <a:spcPct val="108000"/>
              </a:lnSpc>
              <a:spcBef>
                <a:spcPts val="800"/>
              </a:spcBef>
              <a:spcAft>
                <a:spcPts val="0"/>
              </a:spcAft>
            </a:pPr>
            <a:r>
              <a:rPr sz="5400" b="1" i="0">
                <a:solidFill>
                  <a:srgbClr val="A0522D"/>
                </a:solidFill>
                <a:latin typeface="Georgia"/>
              </a:rPr>
              <a:t>It's just a bigger fire.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291072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80">
                <a:solidFill>
                  <a:srgbClr val="C4956A"/>
                </a:solidFill>
                <a:latin typeface="Helvetica Neue"/>
              </a:rPr>
              <a:t>THE BUILDERS' OPS 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39535" y="6291072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80">
                <a:solidFill>
                  <a:srgbClr val="C4956A"/>
                </a:solidFill>
                <a:latin typeface="Helvetica Neue"/>
              </a:rPr>
              <a:t>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D2B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C49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155448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spc="240">
                <a:solidFill>
                  <a:srgbClr val="C4956A"/>
                </a:solidFill>
                <a:latin typeface="Helvetica Neue"/>
              </a:rPr>
              <a:t>SHOW, DON'T TELL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42416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7800" b="1" i="0">
                <a:solidFill>
                  <a:srgbClr val="F5F0E8"/>
                </a:solidFill>
                <a:latin typeface="Georgia"/>
              </a:rPr>
              <a:t>Two real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7800" b="1" i="0">
                <a:solidFill>
                  <a:srgbClr val="F5F0E8"/>
                </a:solidFill>
                <a:latin typeface="Georgia"/>
              </a:rPr>
              <a:t>businesses.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754880"/>
            <a:ext cx="9692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E8DCC8"/>
                </a:solidFill>
                <a:latin typeface="Helvetica Neue"/>
              </a:rPr>
              <a:t>Not demos. Not mockups. Systems running right now for a Georgia bakery and a wellness coach.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291072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80">
                <a:solidFill>
                  <a:srgbClr val="C4956A"/>
                </a:solidFill>
                <a:latin typeface="Helvetica Neue"/>
              </a:rPr>
              <a:t>CYNTHIA JONES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39535" y="6291072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80">
                <a:solidFill>
                  <a:srgbClr val="C4956A"/>
                </a:solidFill>
                <a:latin typeface="Helvetica Neue"/>
              </a:rPr>
              <a:t>05 · THE BUILDS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C49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77724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spc="240">
                <a:solidFill>
                  <a:srgbClr val="C4956A"/>
                </a:solidFill>
                <a:latin typeface="Helvetica Neue"/>
              </a:rPr>
              <a:t>BUILD ONE · THE BAKER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104241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3D2B1F"/>
                </a:solidFill>
                <a:latin typeface="Georgia"/>
              </a:rPr>
              <a:t>Twenty years of demand.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3D2B1F"/>
                </a:solidFill>
                <a:latin typeface="Georgia"/>
              </a:rPr>
              <a:t>No system.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6974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4C3B"/>
                </a:solidFill>
                <a:latin typeface="Helvetica Neue"/>
              </a:rPr>
              <a:t>Orders in her DMs. Capacity in her head. Turning away business she couldn't track.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429000"/>
            <a:ext cx="914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1">
                <a:solidFill>
                  <a:srgbClr val="C4956A"/>
                </a:solidFill>
                <a:latin typeface="Georgia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34290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3D2B1F"/>
                </a:solidFill>
                <a:latin typeface="Helvetica Neue"/>
              </a:rPr>
              <a:t>A live order form with a capacity tracker</a:t>
            </a:r>
          </a:p>
          <a:p>
            <a:pPr algn="l">
              <a:lnSpc>
                <a:spcPct val="135000"/>
              </a:lnSpc>
              <a:spcBef>
                <a:spcPts val="300"/>
              </a:spcBef>
              <a:spcAft>
                <a:spcPts val="0"/>
              </a:spcAft>
            </a:pPr>
            <a:r>
              <a:rPr sz="1450" b="0" i="0">
                <a:solidFill>
                  <a:srgbClr val="6B4C3B"/>
                </a:solidFill>
                <a:latin typeface="Helvetica Neue"/>
              </a:rPr>
              <a:t>She never over-commits her oven again. The system says when she's full.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507992"/>
            <a:ext cx="914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1">
                <a:solidFill>
                  <a:srgbClr val="C4956A"/>
                </a:solidFill>
                <a:latin typeface="Georgia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4507992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3D2B1F"/>
                </a:solidFill>
                <a:latin typeface="Helvetica Neue"/>
              </a:rPr>
              <a:t>Standing orders that run themselves</a:t>
            </a:r>
          </a:p>
          <a:p>
            <a:pPr algn="l">
              <a:lnSpc>
                <a:spcPct val="135000"/>
              </a:lnSpc>
              <a:spcBef>
                <a:spcPts val="300"/>
              </a:spcBef>
              <a:spcAft>
                <a:spcPts val="0"/>
              </a:spcAft>
            </a:pPr>
            <a:r>
              <a:rPr sz="1450" b="0" i="0">
                <a:solidFill>
                  <a:srgbClr val="6B4C3B"/>
                </a:solidFill>
                <a:latin typeface="Helvetica Neue"/>
              </a:rPr>
              <a:t>Her regulars get a text every Thursday, the order processes automatically. Guaranteed weekly revenue on autopilot.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586983"/>
            <a:ext cx="914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1">
                <a:solidFill>
                  <a:srgbClr val="C4956A"/>
                </a:solidFill>
                <a:latin typeface="Georgia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5586983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3D2B1F"/>
                </a:solidFill>
                <a:latin typeface="Helvetica Neue"/>
              </a:rPr>
              <a:t>No monthly subscription</a:t>
            </a:r>
          </a:p>
          <a:p>
            <a:pPr algn="l">
              <a:lnSpc>
                <a:spcPct val="135000"/>
              </a:lnSpc>
              <a:spcBef>
                <a:spcPts val="300"/>
              </a:spcBef>
              <a:spcAft>
                <a:spcPts val="0"/>
              </a:spcAft>
            </a:pPr>
            <a:r>
              <a:rPr sz="1450" b="0" i="0">
                <a:solidFill>
                  <a:srgbClr val="6B4C3B"/>
                </a:solidFill>
                <a:latin typeface="Helvetica Neue"/>
              </a:rPr>
              <a:t>She owns it. The software and the data are hers.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291072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80">
                <a:solidFill>
                  <a:srgbClr val="C4956A"/>
                </a:solidFill>
                <a:latin typeface="Helvetica Neue"/>
              </a:rPr>
              <a:t>THE BUILDERS' OPS STUDIO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39535" y="6291072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80">
                <a:solidFill>
                  <a:srgbClr val="C4956A"/>
                </a:solidFill>
                <a:latin typeface="Helvetica Neue"/>
              </a:rPr>
              <a:t>06 · THE BAKER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C49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77724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spc="240">
                <a:solidFill>
                  <a:srgbClr val="C4956A"/>
                </a:solidFill>
                <a:latin typeface="Helvetica Neue"/>
              </a:rPr>
              <a:t>BUILD TWO · THE WELLNESS COACH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104241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3D2B1F"/>
                </a:solidFill>
                <a:latin typeface="Georgia"/>
              </a:rPr>
              <a:t>Real brand. Real following.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3D2B1F"/>
                </a:solidFill>
                <a:latin typeface="Georgia"/>
              </a:rPr>
              <a:t>All of it in her head.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6974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4C3B"/>
                </a:solidFill>
                <a:latin typeface="Helvetica Neue"/>
              </a:rPr>
              <a:t>Everything ran on her phone and her memory.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429000"/>
            <a:ext cx="914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1">
                <a:solidFill>
                  <a:srgbClr val="C4956A"/>
                </a:solidFill>
                <a:latin typeface="Georgia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34290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3D2B1F"/>
                </a:solidFill>
                <a:latin typeface="Helvetica Neue"/>
              </a:rPr>
              <a:t>A client portal</a:t>
            </a:r>
          </a:p>
          <a:p>
            <a:pPr algn="l">
              <a:lnSpc>
                <a:spcPct val="135000"/>
              </a:lnSpc>
              <a:spcBef>
                <a:spcPts val="300"/>
              </a:spcBef>
              <a:spcAft>
                <a:spcPts val="0"/>
              </a:spcAft>
            </a:pPr>
            <a:r>
              <a:rPr sz="1450" b="0" i="0">
                <a:solidFill>
                  <a:srgbClr val="6B4C3B"/>
                </a:solidFill>
                <a:latin typeface="Helvetica Neue"/>
              </a:rPr>
              <a:t>Her whole coaching relationship in one place: intake, sessions, progress, contracts.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507992"/>
            <a:ext cx="914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1">
                <a:solidFill>
                  <a:srgbClr val="C4956A"/>
                </a:solidFill>
                <a:latin typeface="Georgia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4507992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3D2B1F"/>
                </a:solidFill>
                <a:latin typeface="Helvetica Neue"/>
              </a:rPr>
              <a:t>One-click enroll</a:t>
            </a:r>
          </a:p>
          <a:p>
            <a:pPr algn="l">
              <a:lnSpc>
                <a:spcPct val="135000"/>
              </a:lnSpc>
              <a:spcBef>
                <a:spcPts val="300"/>
              </a:spcBef>
              <a:spcAft>
                <a:spcPts val="0"/>
              </a:spcAft>
            </a:pPr>
            <a:r>
              <a:rPr sz="1450" b="0" i="0">
                <a:solidFill>
                  <a:srgbClr val="6B4C3B"/>
                </a:solidFill>
                <a:latin typeface="Helvetica Neue"/>
              </a:rPr>
              <a:t>An application comes in, the right emails go out automatically. Turning an applicant into a client takes one click instead of a week.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586983"/>
            <a:ext cx="914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1">
                <a:solidFill>
                  <a:srgbClr val="C4956A"/>
                </a:solidFill>
                <a:latin typeface="Georgia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5586983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3D2B1F"/>
                </a:solidFill>
                <a:latin typeface="Helvetica Neue"/>
              </a:rPr>
              <a:t>She got her hours back</a:t>
            </a:r>
          </a:p>
          <a:p>
            <a:pPr algn="l">
              <a:lnSpc>
                <a:spcPct val="135000"/>
              </a:lnSpc>
              <a:spcBef>
                <a:spcPts val="300"/>
              </a:spcBef>
              <a:spcAft>
                <a:spcPts val="0"/>
              </a:spcAft>
            </a:pPr>
            <a:r>
              <a:rPr sz="1450" b="0" i="0">
                <a:solidFill>
                  <a:srgbClr val="6B4C3B"/>
                </a:solidFill>
                <a:latin typeface="Helvetica Neue"/>
              </a:rPr>
              <a:t>From running her practice in her head to running it from a dashboard.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291072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80">
                <a:solidFill>
                  <a:srgbClr val="C4956A"/>
                </a:solidFill>
                <a:latin typeface="Helvetica Neue"/>
              </a:rPr>
              <a:t>THE BUILDERS' OPS STUDIO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39535" y="6291072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80">
                <a:solidFill>
                  <a:srgbClr val="C4956A"/>
                </a:solidFill>
                <a:latin typeface="Helvetica Neue"/>
              </a:rPr>
              <a:t>07 · THE COACH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D2B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C49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86868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spc="240">
                <a:solidFill>
                  <a:srgbClr val="C4956A"/>
                </a:solidFill>
                <a:latin typeface="Helvetica Neue"/>
              </a:rPr>
              <a:t>WHAT THIS MEANS FOR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5000" b="1" i="0">
                <a:solidFill>
                  <a:srgbClr val="F5F0E8"/>
                </a:solidFill>
                <a:latin typeface="Georgia"/>
              </a:rPr>
              <a:t>Built, not rented.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5000" b="1" i="0">
                <a:solidFill>
                  <a:srgbClr val="F5F0E8"/>
                </a:solidFill>
                <a:latin typeface="Georgia"/>
              </a:rPr>
              <a:t>And finally </a:t>
            </a:r>
            <a:r>
              <a:rPr sz="5000" b="1" i="0">
                <a:solidFill>
                  <a:srgbClr val="C4956A"/>
                </a:solidFill>
                <a:latin typeface="Georgia"/>
              </a:rPr>
              <a:t>affordable.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29184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E8DCC8"/>
                </a:solidFill>
                <a:latin typeface="Helvetica Neue"/>
              </a:rPr>
              <a:t>These aren't apps they rented. They were built for the specific business, the owner owns them, and they're designed to run without her touching every piece.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526280"/>
            <a:ext cx="102412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E8DCC8"/>
                </a:solidFill>
                <a:latin typeface="Helvetica Neue"/>
              </a:rPr>
              <a:t>Custom software used to cost fifty thousand dollars and a development team. AI is what makes building this for a small business affordable now. That's the real headline. You can finally own infrastructure that used to be only for big companies.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291072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80">
                <a:solidFill>
                  <a:srgbClr val="C4956A"/>
                </a:solidFill>
                <a:latin typeface="Helvetica Neue"/>
              </a:rPr>
              <a:t>CYNTHIA JONES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39535" y="6291072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80">
                <a:solidFill>
                  <a:srgbClr val="C4956A"/>
                </a:solidFill>
                <a:latin typeface="Helvetica Neue"/>
              </a:rPr>
              <a:t>08 · WHY NOW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C49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114300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spc="240">
                <a:solidFill>
                  <a:srgbClr val="C4956A"/>
                </a:solidFill>
                <a:latin typeface="Helvetica Neue"/>
              </a:rPr>
              <a:t>WHERE TO START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42416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 i="0">
                <a:solidFill>
                  <a:srgbClr val="3D2B1F"/>
                </a:solidFill>
                <a:latin typeface="Georgia"/>
              </a:rPr>
              <a:t>You don't need all of it at once.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 i="0">
                <a:solidFill>
                  <a:srgbClr val="3D2B1F"/>
                </a:solidFill>
                <a:latin typeface="Georgia"/>
              </a:rPr>
              <a:t>It starts with one question: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 i="0">
                <a:solidFill>
                  <a:srgbClr val="A0522D"/>
                </a:solidFill>
                <a:latin typeface="Georgia"/>
              </a:rPr>
              <a:t>where is your business breaking?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5029200"/>
            <a:ext cx="9875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6B4C3B"/>
                </a:solidFill>
                <a:latin typeface="Helvetica Neue"/>
              </a:rPr>
              <a:t>We find that first. Then we build the one thing that fixes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291072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80">
                <a:solidFill>
                  <a:srgbClr val="C4956A"/>
                </a:solidFill>
                <a:latin typeface="Helvetica Neue"/>
              </a:rPr>
              <a:t>THE BUILDERS' OPS STUDIO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39535" y="6291072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80">
                <a:solidFill>
                  <a:srgbClr val="C4956A"/>
                </a:solidFill>
                <a:latin typeface="Helvetica Neue"/>
              </a:rPr>
              <a:t>09 · ONE QUESTION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C49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123444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spc="240">
                <a:solidFill>
                  <a:srgbClr val="C4956A"/>
                </a:solidFill>
                <a:latin typeface="Helvetica Neue"/>
              </a:rPr>
              <a:t>AN IDEA I'M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4241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6000" b="1" i="0">
                <a:solidFill>
                  <a:srgbClr val="3D2B1F"/>
                </a:solidFill>
                <a:latin typeface="Georgia"/>
              </a:rPr>
              <a:t>A small hands-on series.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200400"/>
            <a:ext cx="9875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6B4C3B"/>
                </a:solidFill>
                <a:latin typeface="Helvetica Neue"/>
              </a:rPr>
              <a:t>A few of us, building one real system together over a few weeks. Not a lecture. A build.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297680"/>
            <a:ext cx="9875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A0522D"/>
                </a:solidFill>
                <a:latin typeface="Helvetica Neue"/>
              </a:rPr>
              <a:t>If that sounds useful, find me after and tell me. I'm listening for whether there's appetite for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291072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80">
                <a:solidFill>
                  <a:srgbClr val="C4956A"/>
                </a:solidFill>
                <a:latin typeface="Helvetica Neue"/>
              </a:rPr>
              <a:t>THE BUILDERS' OPS STUDIO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39535" y="6291072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80">
                <a:solidFill>
                  <a:srgbClr val="C4956A"/>
                </a:solidFill>
                <a:latin typeface="Helvetica Neue"/>
              </a:rPr>
              <a:t>10 · THE SERIES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D2B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C49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100584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spc="240">
                <a:solidFill>
                  <a:srgbClr val="C4956A"/>
                </a:solidFill>
                <a:latin typeface="Helvetica Neue"/>
              </a:rPr>
              <a:t>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630936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5F0E8"/>
                </a:solidFill>
                <a:latin typeface="Georgia"/>
              </a:rPr>
              <a:t>If your business is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5F0E8"/>
                </a:solidFill>
                <a:latin typeface="Georgia"/>
              </a:rPr>
              <a:t>running you,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5F0E8"/>
                </a:solidFill>
                <a:latin typeface="Georgia"/>
              </a:rPr>
              <a:t>let's fix that.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977639"/>
            <a:ext cx="60350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E8DCC8"/>
                </a:solidFill>
                <a:latin typeface="Helvetica Neue"/>
              </a:rPr>
              <a:t>A free 45-minute discovery call. We sit down, I help you see where the gaps are. No pitch.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257800"/>
            <a:ext cx="6035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E8DCC8"/>
                </a:solidFill>
                <a:latin typeface="Helvetica Neue"/>
              </a:rPr>
              <a:t>The code books it. Grab a slot tonight.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</a:pPr>
            <a:r>
              <a:rPr sz="1600" b="1" i="0">
                <a:solidFill>
                  <a:srgbClr val="C4956A"/>
                </a:solidFill>
                <a:latin typeface="Helvetica Neue"/>
              </a:rPr>
              <a:t>cynthia@thebuildersopsstudio.com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80960" y="1280160"/>
            <a:ext cx="3657600" cy="4114800"/>
          </a:xfrm>
          <a:prstGeom prst="roundRect">
            <a:avLst>
              <a:gd name="adj" fmla="val 6000"/>
            </a:avLst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qr-boo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1600200"/>
            <a:ext cx="2743200" cy="2743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680960" y="4526279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spc="180">
                <a:solidFill>
                  <a:srgbClr val="A0522D"/>
                </a:solidFill>
                <a:latin typeface="Helvetica Neue"/>
              </a:rPr>
              <a:t>SCAN TO BOOK YOUR CALL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489204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4C3B"/>
                </a:solidFill>
                <a:latin typeface="Helvetica Neue"/>
              </a:rPr>
              <a:t>thebuildersopsstudio.com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291072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80">
                <a:solidFill>
                  <a:srgbClr val="C4956A"/>
                </a:solidFill>
                <a:latin typeface="Helvetica Neue"/>
              </a:rPr>
              <a:t>CYNTHIA JONES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39535" y="6291072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80">
                <a:solidFill>
                  <a:srgbClr val="C4956A"/>
                </a:solidFill>
                <a:latin typeface="Helvetica Neue"/>
              </a:rPr>
              <a:t>11 · BOOK A CALL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D2B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C49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" y="914400"/>
            <a:ext cx="13716" cy="123444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95528" y="1371600"/>
            <a:ext cx="201168" cy="12801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868680"/>
            <a:ext cx="54864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400">
                <a:solidFill>
                  <a:srgbClr val="F5F0E8"/>
                </a:solidFill>
                <a:latin typeface="Helvetica Neue"/>
              </a:rPr>
              <a:t>THE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0"/>
              </a:spcAft>
            </a:pPr>
            <a:r>
              <a:rPr sz="2600" b="1" i="0" spc="120">
                <a:solidFill>
                  <a:srgbClr val="F5F0E8"/>
                </a:solidFill>
                <a:latin typeface="Georgia"/>
              </a:rPr>
              <a:t>BUILDERS'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200" b="1" i="0" spc="400">
                <a:solidFill>
                  <a:srgbClr val="F5F0E8"/>
                </a:solidFill>
                <a:latin typeface="Helvetica Neue"/>
              </a:rPr>
              <a:t>OPS 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5146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220">
                <a:solidFill>
                  <a:srgbClr val="C4956A"/>
                </a:solidFill>
                <a:latin typeface="Helvetica Neue"/>
              </a:rPr>
              <a:t>STRATEGY · SYSTEMS · 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108960"/>
            <a:ext cx="1042416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0" b="1" i="0">
                <a:solidFill>
                  <a:srgbClr val="F5F0E8"/>
                </a:solidFill>
                <a:latin typeface="Georgia"/>
              </a:rPr>
              <a:t>I build the systems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0" b="1" i="0">
                <a:solidFill>
                  <a:srgbClr val="F5F0E8"/>
                </a:solidFill>
                <a:latin typeface="Georgia"/>
              </a:rPr>
              <a:t>your business runs 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4406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E8DCC8"/>
                </a:solidFill>
                <a:latin typeface="Helvetica Neue"/>
              </a:rPr>
              <a:t>Cynthia Jones · The Builders' Ops Studio. Thank you.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291072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80">
                <a:solidFill>
                  <a:srgbClr val="C4956A"/>
                </a:solidFill>
                <a:latin typeface="Helvetica Neue"/>
              </a:rPr>
              <a:t>CYNTHIA@THEBUILDERSOPSSTUDIO.COM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39535" y="6291072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80">
                <a:solidFill>
                  <a:srgbClr val="C4956A"/>
                </a:solidFill>
                <a:latin typeface="Helvetica Neue"/>
              </a:rPr>
              <a:t>THEBUILDERSOPSSTUDIO.COM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